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EB4"/>
    <a:srgbClr val="050C1E"/>
    <a:srgbClr val="136AFD"/>
    <a:srgbClr val="1DA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26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94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332" y="457199"/>
            <a:ext cx="2033337" cy="203333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714500"/>
            <a:ext cx="4572000" cy="171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School Financial Management System.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06240" y="352044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71600" y="4256213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Product Vision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APPLICATION</a:t>
            </a:r>
            <a:endParaRPr lang="en-US" sz="1200" spc="4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</a:t>
            </a: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r>
              <a:rPr lang="en-US" sz="2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r>
              <a:rPr lang="en-US" sz="2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office.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479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91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fees &amp; issue receipts instantly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764792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0" y="1691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student balances in real time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06040"/>
            <a:ext cx="329184" cy="329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5328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financial reports on demand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606040"/>
            <a:ext cx="329184" cy="3291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57600" y="25328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the cashbook automatically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447288"/>
            <a:ext cx="329184" cy="32918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3741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Auditable, timestamped transaction log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3447288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657600" y="33741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for administrators</a:t>
            </a:r>
            <a:endParaRPr lang="en-US" sz="1100" dirty="0"/>
          </a:p>
        </p:txBody>
      </p:sp>
      <p:sp>
        <p:nvSpPr>
          <p:cNvPr id="16" name="Shape 8"/>
          <p:cNvSpPr/>
          <p:nvPr/>
        </p:nvSpPr>
        <p:spPr>
          <a:xfrm>
            <a:off x="5827704" y="804535"/>
            <a:ext cx="3017520" cy="3520440"/>
          </a:xfrm>
          <a:prstGeom prst="roundRect">
            <a:avLst>
              <a:gd name="adj" fmla="val 4242"/>
            </a:avLst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  <a:effectLst>
            <a:outerShdw blurRad="127000" dist="25400" dir="2700000" algn="bl" rotWithShape="0">
              <a:srgbClr val="2D6A4F">
                <a:alpha val="10000"/>
              </a:srgbClr>
            </a:outerShdw>
          </a:effectLst>
        </p:spPr>
      </p:sp>
      <p:sp>
        <p:nvSpPr>
          <p:cNvPr id="17" name="Text 9"/>
          <p:cNvSpPr/>
          <p:nvPr/>
        </p:nvSpPr>
        <p:spPr>
          <a:xfrm>
            <a:off x="6056304" y="1005703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Offline First Design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6304" y="1545199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467784" y="1490335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entirely on one school PC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6304" y="2084695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467784" y="2029831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required for any operation</a:t>
            </a:r>
            <a:endParaRPr lang="en-US" sz="11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6304" y="2624191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467784" y="2569327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downtime, network outages don't matter</a:t>
            </a:r>
            <a:endParaRPr lang="en-US" sz="11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6304" y="3163687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467784" y="3108823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stays on school premises</a:t>
            </a:r>
            <a:endParaRPr lang="en-US" sz="11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56304" y="3703183"/>
            <a:ext cx="274320" cy="27432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467784" y="3648319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F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install, no server setup</a:t>
            </a:r>
            <a:endParaRPr lang="en-US" sz="11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16040" y="4603004"/>
            <a:ext cx="384048" cy="38404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8F21BBE-1E2A-2D66-3E45-A21D3D003948}"/>
              </a:ext>
            </a:extLst>
          </p:cNvPr>
          <p:cNvSpPr txBox="1"/>
          <p:nvPr/>
        </p:nvSpPr>
        <p:spPr>
          <a:xfrm>
            <a:off x="4245935" y="4707374"/>
            <a:ext cx="65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yne" pitchFamily="2" charset="0"/>
              </a:rPr>
              <a:t>2</a:t>
            </a:r>
            <a:endParaRPr lang="en-UG" b="1" dirty="0">
              <a:latin typeface="Syne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641080" cy="5141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Syne" pitchFamily="2" charset="0"/>
                <a:ea typeface="Arial" pitchFamily="34" charset="-122"/>
                <a:cs typeface="Arial" pitchFamily="34" charset="-120"/>
              </a:rPr>
              <a:t>Smart</a:t>
            </a:r>
            <a:r>
              <a:rPr lang="en-US" sz="3600" b="1" dirty="0">
                <a:solidFill>
                  <a:srgbClr val="0070C0"/>
                </a:solidFill>
                <a:latin typeface="Syne" pitchFamily="2" charset="0"/>
                <a:ea typeface="Arial" pitchFamily="34" charset="-122"/>
                <a:cs typeface="Arial" pitchFamily="34" charset="-120"/>
              </a:rPr>
              <a:t>Bursar</a:t>
            </a:r>
            <a:endParaRPr lang="en-US" sz="3600" dirty="0">
              <a:solidFill>
                <a:srgbClr val="0070C0"/>
              </a:solidFill>
              <a:latin typeface="Syne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213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035885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school,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7C5E"/>
                </a:solidFill>
                <a:latin typeface="Arial" pitchFamily="34" charset="0"/>
                <a:cs typeface="Arial" pitchFamily="34" charset="-120"/>
              </a:rPr>
              <a:t>Current Phase.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2152" y="29306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PC deployment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2152" y="32246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local 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2152" y="351859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offline operation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2152" y="379837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network configuration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2152" y="409233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· Cashbook · Reports · Balances</a:t>
            </a:r>
            <a:endParaRPr lang="en-US" sz="12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617720"/>
            <a:ext cx="384048" cy="38404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E0409E17-948E-DB9F-1BD6-796B3C3528BE}"/>
              </a:ext>
            </a:extLst>
          </p:cNvPr>
          <p:cNvGrpSpPr/>
          <p:nvPr/>
        </p:nvGrpSpPr>
        <p:grpSpPr>
          <a:xfrm>
            <a:off x="5669280" y="1463040"/>
            <a:ext cx="3108960" cy="2920057"/>
            <a:chOff x="5669280" y="1463040"/>
            <a:chExt cx="3108960" cy="3154680"/>
          </a:xfrm>
        </p:grpSpPr>
        <p:sp>
          <p:nvSpPr>
            <p:cNvPr id="12" name="Shape 10"/>
            <p:cNvSpPr/>
            <p:nvPr/>
          </p:nvSpPr>
          <p:spPr>
            <a:xfrm>
              <a:off x="5669280" y="1463040"/>
              <a:ext cx="3108960" cy="530352"/>
            </a:xfrm>
            <a:prstGeom prst="roundRect">
              <a:avLst>
                <a:gd name="adj" fmla="val 11538"/>
              </a:avLst>
            </a:prstGeom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13" name="Text 11"/>
            <p:cNvSpPr/>
            <p:nvPr/>
          </p:nvSpPr>
          <p:spPr>
            <a:xfrm>
              <a:off x="6492240" y="1463040"/>
              <a:ext cx="1463040" cy="32004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61DAF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React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852160" y="1755648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A7C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 Interface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669280" y="2325541"/>
              <a:ext cx="3108960" cy="576072"/>
            </a:xfrm>
            <a:prstGeom prst="roundRect">
              <a:avLst>
                <a:gd name="adj" fmla="val 11538"/>
              </a:avLst>
            </a:prstGeom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17" name="Text 15"/>
            <p:cNvSpPr/>
            <p:nvPr/>
          </p:nvSpPr>
          <p:spPr>
            <a:xfrm>
              <a:off x="6492240" y="2301090"/>
              <a:ext cx="1463040" cy="32004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C13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Tauri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852160" y="2593697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A7C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Desktop Host</a:t>
              </a:r>
              <a:endParaRPr lang="en-US" sz="1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669280" y="3200400"/>
              <a:ext cx="3108960" cy="548640"/>
            </a:xfrm>
            <a:prstGeom prst="roundRect">
              <a:avLst>
                <a:gd name="adj" fmla="val 11538"/>
              </a:avLst>
            </a:prstGeom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1" name="Text 19"/>
            <p:cNvSpPr/>
            <p:nvPr/>
          </p:nvSpPr>
          <p:spPr>
            <a:xfrm>
              <a:off x="6492240" y="3200400"/>
              <a:ext cx="1463040" cy="32004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776A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Python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852160" y="3493008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A7C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Logic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669280" y="4069080"/>
              <a:ext cx="3108960" cy="548640"/>
            </a:xfrm>
            <a:prstGeom prst="roundRect">
              <a:avLst>
                <a:gd name="adj" fmla="val 11538"/>
              </a:avLst>
            </a:prstGeom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5" name="Text 23"/>
            <p:cNvSpPr/>
            <p:nvPr/>
          </p:nvSpPr>
          <p:spPr>
            <a:xfrm>
              <a:off x="6492240" y="4069080"/>
              <a:ext cx="1463040" cy="32004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44A5C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SQLite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5852160" y="4361688"/>
              <a:ext cx="2743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4A7C5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Local Database</a:t>
              </a:r>
              <a:endParaRPr lang="en-US" sz="1000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B0A968D-287C-B40E-94DC-75265F86609C}"/>
                </a:ext>
              </a:extLst>
            </p:cNvPr>
            <p:cNvCxnSpPr>
              <a:cxnSpLocks/>
              <a:stCxn id="12" idx="2"/>
              <a:endCxn id="16" idx="0"/>
            </p:cNvCxnSpPr>
            <p:nvPr/>
          </p:nvCxnSpPr>
          <p:spPr>
            <a:xfrm>
              <a:off x="7223760" y="1993392"/>
              <a:ext cx="0" cy="33214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84E7C6C-9624-B92E-5FD7-0C9A846CF71B}"/>
                </a:ext>
              </a:extLst>
            </p:cNvPr>
            <p:cNvCxnSpPr>
              <a:cxnSpLocks/>
              <a:stCxn id="16" idx="2"/>
              <a:endCxn id="20" idx="0"/>
            </p:cNvCxnSpPr>
            <p:nvPr/>
          </p:nvCxnSpPr>
          <p:spPr>
            <a:xfrm>
              <a:off x="7223760" y="2901613"/>
              <a:ext cx="0" cy="29878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3757C0E-B4AA-3E9A-62C3-BDA4E2EB6138}"/>
                </a:ext>
              </a:extLst>
            </p:cNvPr>
            <p:cNvCxnSpPr>
              <a:cxnSpLocks/>
              <a:stCxn id="20" idx="2"/>
              <a:endCxn id="24" idx="0"/>
            </p:cNvCxnSpPr>
            <p:nvPr/>
          </p:nvCxnSpPr>
          <p:spPr>
            <a:xfrm>
              <a:off x="7223760" y="3749040"/>
              <a:ext cx="0" cy="32004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0DDBC7B-05C6-0EF3-2F4F-83BE27B07DD9}"/>
              </a:ext>
            </a:extLst>
          </p:cNvPr>
          <p:cNvSpPr txBox="1"/>
          <p:nvPr/>
        </p:nvSpPr>
        <p:spPr>
          <a:xfrm>
            <a:off x="4245935" y="4707374"/>
            <a:ext cx="65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yne" pitchFamily="2" charset="0"/>
              </a:rPr>
              <a:t>3</a:t>
            </a:r>
            <a:endParaRPr lang="en-UG" b="1" dirty="0">
              <a:latin typeface="Syne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r>
              <a:rPr lang="en-US" sz="36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938527"/>
            <a:ext cx="5029200" cy="9747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staff.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financial system.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school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25969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Concurrent users possible!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473441"/>
            <a:ext cx="1371600" cy="347472"/>
          </a:xfrm>
          <a:prstGeom prst="roundRect">
            <a:avLst>
              <a:gd name="adj" fmla="val 2368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502920" y="3473441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3473441"/>
            <a:ext cx="1371600" cy="347472"/>
          </a:xfrm>
          <a:prstGeom prst="roundRect">
            <a:avLst>
              <a:gd name="adj" fmla="val 2368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3" name="Text 11"/>
          <p:cNvSpPr/>
          <p:nvPr/>
        </p:nvSpPr>
        <p:spPr>
          <a:xfrm>
            <a:off x="2148840" y="3473441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Headteacher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48929"/>
            <a:ext cx="1371600" cy="347472"/>
          </a:xfrm>
          <a:prstGeom prst="roundRect">
            <a:avLst>
              <a:gd name="adj" fmla="val 2368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5" name="Text 13"/>
          <p:cNvSpPr/>
          <p:nvPr/>
        </p:nvSpPr>
        <p:spPr>
          <a:xfrm>
            <a:off x="502920" y="3948929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3948929"/>
            <a:ext cx="1371600" cy="347472"/>
          </a:xfrm>
          <a:prstGeom prst="roundRect">
            <a:avLst>
              <a:gd name="adj" fmla="val 2368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9" name="Text 17"/>
          <p:cNvSpPr/>
          <p:nvPr/>
        </p:nvSpPr>
        <p:spPr>
          <a:xfrm>
            <a:off x="2148840" y="3948929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11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617720"/>
            <a:ext cx="384048" cy="384048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12205C4B-2D09-F6AF-4F7B-581F2F817765}"/>
              </a:ext>
            </a:extLst>
          </p:cNvPr>
          <p:cNvSpPr/>
          <p:nvPr/>
        </p:nvSpPr>
        <p:spPr>
          <a:xfrm>
            <a:off x="502920" y="658368"/>
            <a:ext cx="8641080" cy="5943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Syne" pitchFamily="2" charset="0"/>
                <a:ea typeface="Arial" pitchFamily="34" charset="-122"/>
                <a:cs typeface="Arial" pitchFamily="34" charset="-120"/>
              </a:rPr>
              <a:t>Smart</a:t>
            </a:r>
            <a:r>
              <a:rPr lang="en-US" sz="3600" b="1" dirty="0">
                <a:solidFill>
                  <a:srgbClr val="0070C0"/>
                </a:solidFill>
                <a:latin typeface="Syne" pitchFamily="2" charset="0"/>
                <a:ea typeface="Arial" pitchFamily="34" charset="-122"/>
                <a:cs typeface="Arial" pitchFamily="34" charset="-120"/>
              </a:rPr>
              <a:t>Bursar</a:t>
            </a:r>
            <a:endParaRPr lang="en-US" sz="3600" dirty="0">
              <a:solidFill>
                <a:srgbClr val="0070C0"/>
              </a:solidFill>
              <a:latin typeface="Syne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1E7161-3AD0-AFF3-7B6E-AFB26304BC04}"/>
              </a:ext>
            </a:extLst>
          </p:cNvPr>
          <p:cNvSpPr txBox="1"/>
          <p:nvPr/>
        </p:nvSpPr>
        <p:spPr>
          <a:xfrm>
            <a:off x="4245935" y="4707374"/>
            <a:ext cx="65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yne" pitchFamily="2" charset="0"/>
              </a:rPr>
              <a:t>4</a:t>
            </a:r>
            <a:endParaRPr lang="en-UG" b="1" dirty="0">
              <a:latin typeface="Syne" pitchFamily="2" charset="0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F9D7049C-2948-DA3E-A85F-25C4AACF74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83" r="10083"/>
          <a:stretch/>
        </p:blipFill>
        <p:spPr>
          <a:xfrm>
            <a:off x="5480375" y="514914"/>
            <a:ext cx="2743200" cy="4204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0060" y="122093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000957"/>
            <a:ext cx="5029200" cy="826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Multiple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campuses.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oversight.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Cloud-based</a:t>
            </a:r>
            <a:r>
              <a:rPr lang="en-US" sz="14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financial management.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9348" y="3125261"/>
            <a:ext cx="2286000" cy="688067"/>
          </a:xfrm>
          <a:prstGeom prst="roundRect">
            <a:avLst>
              <a:gd name="adj" fmla="val 9524"/>
            </a:avLst>
          </a:prstGeom>
          <a:solidFill>
            <a:srgbClr val="F0F7EC"/>
          </a:solidFill>
          <a:ln w="12700">
            <a:solidFill>
              <a:srgbClr val="C8E6C9"/>
            </a:solidFill>
            <a:prstDash val="solid"/>
          </a:ln>
          <a:effectLst>
            <a:outerShdw blurRad="127000" dist="25400" dir="2700000" algn="bl" rotWithShape="0">
              <a:srgbClr val="2D6A4F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08" y="3143549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9700" y="3125261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Multi-campus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9700" y="34018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schools connected to a central system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40259" y="3125261"/>
            <a:ext cx="2432732" cy="688070"/>
          </a:xfrm>
          <a:prstGeom prst="roundRect">
            <a:avLst>
              <a:gd name="adj" fmla="val 9524"/>
            </a:avLst>
          </a:prstGeom>
          <a:solidFill>
            <a:srgbClr val="F0F7EC"/>
          </a:solidFill>
          <a:ln w="12700">
            <a:solidFill>
              <a:srgbClr val="C8E6C9"/>
            </a:solidFill>
            <a:prstDash val="solid"/>
          </a:ln>
          <a:effectLst>
            <a:outerShdw blurRad="127000" dist="25400" dir="2700000" algn="bl" rotWithShape="0">
              <a:srgbClr val="2D6A4F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419" y="3143549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0611" y="3125261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Cross-school reporting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0611" y="3401851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analytics across all campuses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9347" y="3899664"/>
            <a:ext cx="2286001" cy="677800"/>
          </a:xfrm>
          <a:prstGeom prst="roundRect">
            <a:avLst>
              <a:gd name="adj" fmla="val 9524"/>
            </a:avLst>
          </a:prstGeom>
          <a:solidFill>
            <a:srgbClr val="F0F7EC"/>
          </a:solidFill>
          <a:ln w="12700">
            <a:solidFill>
              <a:srgbClr val="C8E6C9"/>
            </a:solidFill>
            <a:prstDash val="solid"/>
          </a:ln>
          <a:effectLst>
            <a:outerShdw blurRad="127000" dist="25400" dir="2700000" algn="bl" rotWithShape="0">
              <a:srgbClr val="2D6A4F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08" y="393603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9700" y="3917744"/>
            <a:ext cx="1840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synchronization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79700" y="41659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backups and remote access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940258" y="3898536"/>
            <a:ext cx="2432731" cy="678928"/>
          </a:xfrm>
          <a:prstGeom prst="roundRect">
            <a:avLst>
              <a:gd name="adj" fmla="val 9524"/>
            </a:avLst>
          </a:prstGeom>
          <a:solidFill>
            <a:srgbClr val="F0F7EC"/>
          </a:solidFill>
          <a:ln w="12700">
            <a:solidFill>
              <a:srgbClr val="C8E6C9"/>
            </a:solidFill>
            <a:prstDash val="solid"/>
          </a:ln>
          <a:effectLst>
            <a:outerShdw blurRad="127000" dist="25400" dir="2700000" algn="bl" rotWithShape="0">
              <a:srgbClr val="2D6A4F">
                <a:alpha val="1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7419" y="3936032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70611" y="39177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Proprietor access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470611" y="4173069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financial oversight from anywhere</a:t>
            </a:r>
            <a:endParaRPr lang="en-US" sz="95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617720"/>
            <a:ext cx="384048" cy="384048"/>
          </a:xfrm>
          <a:prstGeom prst="rect">
            <a:avLst/>
          </a:prstGeom>
        </p:spPr>
      </p:pic>
      <p:sp>
        <p:nvSpPr>
          <p:cNvPr id="37" name="Text 2">
            <a:extLst>
              <a:ext uri="{FF2B5EF4-FFF2-40B4-BE49-F238E27FC236}">
                <a16:creationId xmlns:a16="http://schemas.microsoft.com/office/drawing/2014/main" id="{322582CE-EEE1-9C65-24DE-46B53C838193}"/>
              </a:ext>
            </a:extLst>
          </p:cNvPr>
          <p:cNvSpPr/>
          <p:nvPr/>
        </p:nvSpPr>
        <p:spPr>
          <a:xfrm>
            <a:off x="502920" y="658368"/>
            <a:ext cx="8641080" cy="51246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Syne" pitchFamily="2" charset="0"/>
                <a:ea typeface="Arial" pitchFamily="34" charset="-122"/>
                <a:cs typeface="Arial" pitchFamily="34" charset="-120"/>
              </a:rPr>
              <a:t>Smart</a:t>
            </a:r>
            <a:r>
              <a:rPr lang="en-US" sz="3600" b="1" dirty="0">
                <a:solidFill>
                  <a:srgbClr val="0070C0"/>
                </a:solidFill>
                <a:latin typeface="Syne" pitchFamily="2" charset="0"/>
                <a:ea typeface="Arial" pitchFamily="34" charset="-122"/>
                <a:cs typeface="Arial" pitchFamily="34" charset="-120"/>
              </a:rPr>
              <a:t>Bursar</a:t>
            </a:r>
            <a:endParaRPr lang="en-US" sz="3600" dirty="0">
              <a:solidFill>
                <a:srgbClr val="0070C0"/>
              </a:solidFill>
              <a:latin typeface="Syne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6BABFB-27B5-502F-CEAA-AD05901BD584}"/>
              </a:ext>
            </a:extLst>
          </p:cNvPr>
          <p:cNvSpPr txBox="1"/>
          <p:nvPr/>
        </p:nvSpPr>
        <p:spPr>
          <a:xfrm>
            <a:off x="4245935" y="4707374"/>
            <a:ext cx="65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yne" pitchFamily="2" charset="0"/>
              </a:rPr>
              <a:t>5</a:t>
            </a:r>
            <a:endParaRPr lang="en-UG" b="1" dirty="0">
              <a:latin typeface="Syne" pitchFamily="2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579496C-D337-E2DD-17F8-6E067A3A9555}"/>
              </a:ext>
            </a:extLst>
          </p:cNvPr>
          <p:cNvGrpSpPr/>
          <p:nvPr/>
        </p:nvGrpSpPr>
        <p:grpSpPr>
          <a:xfrm>
            <a:off x="6212249" y="2005512"/>
            <a:ext cx="2428831" cy="2444493"/>
            <a:chOff x="6212249" y="1449218"/>
            <a:chExt cx="2451691" cy="2610931"/>
          </a:xfrm>
        </p:grpSpPr>
        <p:sp>
          <p:nvSpPr>
            <p:cNvPr id="23" name="Shape 17"/>
            <p:cNvSpPr/>
            <p:nvPr/>
          </p:nvSpPr>
          <p:spPr>
            <a:xfrm>
              <a:off x="6212249" y="1787652"/>
              <a:ext cx="1325880" cy="411480"/>
            </a:xfrm>
            <a:prstGeom prst="roundRect">
              <a:avLst>
                <a:gd name="adj" fmla="val 177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4" name="Text 18"/>
            <p:cNvSpPr/>
            <p:nvPr/>
          </p:nvSpPr>
          <p:spPr>
            <a:xfrm>
              <a:off x="6212249" y="1787652"/>
              <a:ext cx="1325880" cy="4114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tx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School A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Shape 20"/>
            <p:cNvSpPr/>
            <p:nvPr/>
          </p:nvSpPr>
          <p:spPr>
            <a:xfrm>
              <a:off x="6212249" y="2546373"/>
              <a:ext cx="1325880" cy="411480"/>
            </a:xfrm>
            <a:prstGeom prst="roundRect">
              <a:avLst>
                <a:gd name="adj" fmla="val 177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27" name="Text 21"/>
            <p:cNvSpPr/>
            <p:nvPr/>
          </p:nvSpPr>
          <p:spPr>
            <a:xfrm>
              <a:off x="6212249" y="2546373"/>
              <a:ext cx="1325880" cy="4114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tx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School B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Shape 23"/>
            <p:cNvSpPr/>
            <p:nvPr/>
          </p:nvSpPr>
          <p:spPr>
            <a:xfrm>
              <a:off x="6212249" y="3276742"/>
              <a:ext cx="1325880" cy="411480"/>
            </a:xfrm>
            <a:prstGeom prst="roundRect">
              <a:avLst>
                <a:gd name="adj" fmla="val 177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sp>
        <p:sp>
          <p:nvSpPr>
            <p:cNvPr id="30" name="Text 24"/>
            <p:cNvSpPr/>
            <p:nvPr/>
          </p:nvSpPr>
          <p:spPr>
            <a:xfrm>
              <a:off x="6212249" y="3276742"/>
              <a:ext cx="1325880" cy="4114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tx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School C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Shape 26"/>
            <p:cNvSpPr/>
            <p:nvPr/>
          </p:nvSpPr>
          <p:spPr>
            <a:xfrm>
              <a:off x="7795260" y="1449218"/>
              <a:ext cx="868680" cy="2610931"/>
            </a:xfrm>
            <a:prstGeom prst="roundRect">
              <a:avLst>
                <a:gd name="adj" fmla="val 17143"/>
              </a:avLst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33" name="Text 27"/>
            <p:cNvSpPr/>
            <p:nvPr/>
          </p:nvSpPr>
          <p:spPr>
            <a:xfrm rot="16200000">
              <a:off x="7040880" y="2434643"/>
              <a:ext cx="237744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Central Cloud</a:t>
              </a:r>
              <a:endParaRPr lang="en-US" sz="2400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2A5637D-D50A-8929-F916-B315C0DAFCB2}"/>
                </a:ext>
              </a:extLst>
            </p:cNvPr>
            <p:cNvCxnSpPr>
              <a:stCxn id="24" idx="3"/>
            </p:cNvCxnSpPr>
            <p:nvPr/>
          </p:nvCxnSpPr>
          <p:spPr>
            <a:xfrm>
              <a:off x="7538129" y="1993392"/>
              <a:ext cx="25713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DF78273-2D93-CDD2-97BF-E8C848822E93}"/>
                </a:ext>
              </a:extLst>
            </p:cNvPr>
            <p:cNvCxnSpPr>
              <a:stCxn id="27" idx="3"/>
              <a:endCxn id="32" idx="1"/>
            </p:cNvCxnSpPr>
            <p:nvPr/>
          </p:nvCxnSpPr>
          <p:spPr>
            <a:xfrm>
              <a:off x="7538129" y="2752113"/>
              <a:ext cx="257131" cy="257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5A5FC22-5D32-1000-7AF0-B579EEE1D00A}"/>
                </a:ext>
              </a:extLst>
            </p:cNvPr>
            <p:cNvCxnSpPr>
              <a:stCxn id="30" idx="3"/>
            </p:cNvCxnSpPr>
            <p:nvPr/>
          </p:nvCxnSpPr>
          <p:spPr>
            <a:xfrm>
              <a:off x="7538129" y="3482482"/>
              <a:ext cx="257131" cy="499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latin typeface="Arial" pitchFamily="34" charset="0"/>
                <a:cs typeface="Arial" pitchFamily="34" charset="-120"/>
              </a:rPr>
              <a:t>TECHNOLOGY STACK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6769750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latin typeface="Arial" pitchFamily="34" charset="0"/>
                <a:ea typeface="Arial" pitchFamily="34" charset="-122"/>
                <a:cs typeface="Arial" pitchFamily="34" charset="-120"/>
              </a:rPr>
              <a:t>Purposefully</a:t>
            </a:r>
            <a:r>
              <a:rPr lang="en-US" sz="2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52873"/>
            <a:ext cx="8229600" cy="530352"/>
          </a:xfrm>
          <a:prstGeom prst="roundRect">
            <a:avLst>
              <a:gd name="adj" fmla="val 1379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5" name="Text 3"/>
          <p:cNvSpPr/>
          <p:nvPr/>
        </p:nvSpPr>
        <p:spPr>
          <a:xfrm>
            <a:off x="685800" y="1371745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200" b="1" dirty="0"/>
          </a:p>
        </p:txBody>
      </p:sp>
      <p:sp>
        <p:nvSpPr>
          <p:cNvPr id="6" name="Text 4"/>
          <p:cNvSpPr/>
          <p:nvPr/>
        </p:nvSpPr>
        <p:spPr>
          <a:xfrm>
            <a:off x="2606040" y="1344313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(Vite)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71745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Desktop screens for bursar, cashier, headteacher, etc.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74665"/>
            <a:ext cx="8229600" cy="530352"/>
          </a:xfrm>
          <a:prstGeom prst="roundRect">
            <a:avLst>
              <a:gd name="adj" fmla="val 1379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685800" y="199353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Desktop Host</a:t>
            </a:r>
            <a:endParaRPr lang="en-US" sz="1200" b="1" dirty="0"/>
          </a:p>
        </p:txBody>
      </p:sp>
      <p:sp>
        <p:nvSpPr>
          <p:cNvPr id="10" name="Text 8"/>
          <p:cNvSpPr/>
          <p:nvPr/>
        </p:nvSpPr>
        <p:spPr>
          <a:xfrm>
            <a:off x="2606040" y="1966105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Tauri + Rust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99353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Packages the app as a cross-platform executable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96457"/>
            <a:ext cx="8229600" cy="530352"/>
          </a:xfrm>
          <a:prstGeom prst="roundRect">
            <a:avLst>
              <a:gd name="adj" fmla="val 1379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13" name="Text 11"/>
          <p:cNvSpPr/>
          <p:nvPr/>
        </p:nvSpPr>
        <p:spPr>
          <a:xfrm>
            <a:off x="685800" y="2615329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Core Engine</a:t>
            </a:r>
            <a:endParaRPr lang="en-US" sz="1200" b="1" dirty="0"/>
          </a:p>
        </p:txBody>
      </p:sp>
      <p:sp>
        <p:nvSpPr>
          <p:cNvPr id="14" name="Text 12"/>
          <p:cNvSpPr/>
          <p:nvPr/>
        </p:nvSpPr>
        <p:spPr>
          <a:xfrm>
            <a:off x="2606040" y="2587897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61532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All financial logic lives here, independent of transport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118249"/>
            <a:ext cx="8229600" cy="530352"/>
          </a:xfrm>
          <a:prstGeom prst="roundRect">
            <a:avLst>
              <a:gd name="adj" fmla="val 1379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17" name="Text 15"/>
          <p:cNvSpPr/>
          <p:nvPr/>
        </p:nvSpPr>
        <p:spPr>
          <a:xfrm>
            <a:off x="685800" y="323712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b="1" dirty="0"/>
          </a:p>
        </p:txBody>
      </p:sp>
      <p:sp>
        <p:nvSpPr>
          <p:cNvPr id="18" name="Text 16"/>
          <p:cNvSpPr/>
          <p:nvPr/>
        </p:nvSpPr>
        <p:spPr>
          <a:xfrm>
            <a:off x="2606040" y="3209689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PostgreSQL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23712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Secure local database, zero configuration for phase 1, and minimal adjustment for phase 2 and 3 to use PostgreSQL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740041"/>
            <a:ext cx="8229600" cy="530352"/>
          </a:xfrm>
          <a:prstGeom prst="roundRect">
            <a:avLst>
              <a:gd name="adj" fmla="val 1379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sp>
      <p:sp>
        <p:nvSpPr>
          <p:cNvPr id="21" name="Text 19"/>
          <p:cNvSpPr/>
          <p:nvPr/>
        </p:nvSpPr>
        <p:spPr>
          <a:xfrm>
            <a:off x="685800" y="385891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Future Transport</a:t>
            </a:r>
            <a:endParaRPr lang="en-US" sz="1200" b="1" dirty="0"/>
          </a:p>
        </p:txBody>
      </p:sp>
      <p:sp>
        <p:nvSpPr>
          <p:cNvPr id="22" name="Text 20"/>
          <p:cNvSpPr/>
          <p:nvPr/>
        </p:nvSpPr>
        <p:spPr>
          <a:xfrm>
            <a:off x="2606040" y="3831481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</a:t>
            </a:r>
            <a:r>
              <a:rPr lang="en-US" sz="1300" b="1" dirty="0" err="1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JSON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85891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Optional adapter for phase 2 and 3 multi-user networking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424707"/>
            <a:ext cx="8229600" cy="201168"/>
          </a:xfrm>
          <a:prstGeom prst="roundRect">
            <a:avLst>
              <a:gd name="adj" fmla="val 36364"/>
            </a:avLst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24707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Principle: The business logic doesn't know or care how it was called — IPC, HTTP, CLI. Everything else is just transportation.</a:t>
            </a:r>
            <a:endParaRPr lang="en-US" sz="950" b="1" dirty="0">
              <a:solidFill>
                <a:schemeClr val="bg1"/>
              </a:solidFill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617720"/>
            <a:ext cx="384048" cy="38404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0112DE7-96B5-F612-D59D-77F0FFFB463E}"/>
              </a:ext>
            </a:extLst>
          </p:cNvPr>
          <p:cNvSpPr txBox="1"/>
          <p:nvPr/>
        </p:nvSpPr>
        <p:spPr>
          <a:xfrm>
            <a:off x="4245935" y="4608137"/>
            <a:ext cx="65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yne" pitchFamily="2" charset="0"/>
              </a:rPr>
              <a:t>6</a:t>
            </a:r>
            <a:endParaRPr lang="en-UG" b="1" dirty="0">
              <a:latin typeface="Syne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latin typeface="Arial" pitchFamily="34" charset="0"/>
                <a:cs typeface="Arial" pitchFamily="34" charset="-120"/>
              </a:rPr>
              <a:t>ARCHITECTURE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  </a:t>
            </a:r>
            <a:r>
              <a:rPr lang="en-US" sz="2800" b="1" spc="600" dirty="0">
                <a:solidFill>
                  <a:srgbClr val="1DA5D5"/>
                </a:solidFill>
                <a:latin typeface="ORGANICAL PERSONAL USE" pitchFamily="2" charset="0"/>
                <a:ea typeface="Arial" pitchFamily="34" charset="-122"/>
                <a:cs typeface="Arial" pitchFamily="34" charset="-120"/>
              </a:rPr>
              <a:t>EVOLVE</a:t>
            </a:r>
            <a:r>
              <a:rPr lang="en-US" sz="2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600" dirty="0"/>
          </a:p>
          <a:p>
            <a:pPr marL="0" indent="0">
              <a:buNone/>
            </a:pPr>
            <a:r>
              <a:rPr lang="en-US" sz="20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be </a:t>
            </a:r>
            <a:r>
              <a:rPr lang="en-US" sz="2600" b="1" strike="sngStrike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rewritten</a:t>
            </a:r>
            <a:r>
              <a:rPr lang="en-US" sz="2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21022"/>
            <a:ext cx="4069080" cy="1901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SmartBursar</a:t>
            </a:r>
            <a:r>
              <a:rPr lang="en-US" sz="16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built around a Hexagonal (Ports &amp; Adapters) architecture.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Core, with all the business rules, sits at the centre.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A7C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is interchangeable.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643728"/>
            <a:ext cx="4572000" cy="10636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HTTP networking in Phase 2, or Cloud Hosting in Phase 3 is an extension, not a rewrite.</a:t>
            </a:r>
            <a:endParaRPr lang="en-US" sz="16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E0F71D-3F37-574F-B95C-DCD412496032}"/>
              </a:ext>
            </a:extLst>
          </p:cNvPr>
          <p:cNvGrpSpPr/>
          <p:nvPr/>
        </p:nvGrpSpPr>
        <p:grpSpPr>
          <a:xfrm>
            <a:off x="5989320" y="1102375"/>
            <a:ext cx="2743200" cy="2938750"/>
            <a:chOff x="5943600" y="1645920"/>
            <a:chExt cx="2743200" cy="2245596"/>
          </a:xfrm>
        </p:grpSpPr>
        <p:sp>
          <p:nvSpPr>
            <p:cNvPr id="11" name="Shape 9"/>
            <p:cNvSpPr/>
            <p:nvPr/>
          </p:nvSpPr>
          <p:spPr>
            <a:xfrm>
              <a:off x="5943600" y="1645920"/>
              <a:ext cx="2743200" cy="2245596"/>
            </a:xfrm>
            <a:prstGeom prst="roundRect">
              <a:avLst>
                <a:gd name="adj" fmla="val 7500"/>
              </a:avLst>
            </a:prstGeom>
            <a:solidFill>
              <a:srgbClr val="2D6A4F"/>
            </a:solidFill>
            <a:ln w="12700">
              <a:solidFill>
                <a:srgbClr val="2D6A4F"/>
              </a:solidFill>
              <a:prstDash val="solid"/>
            </a:ln>
            <a:effectLst>
              <a:outerShdw blurRad="127000" dist="25400" dir="2700000" algn="bl" rotWithShape="0">
                <a:srgbClr val="2D6A4F">
                  <a:alpha val="10000"/>
                </a:srgbClr>
              </a:outerShdw>
            </a:effectLst>
          </p:spPr>
        </p:sp>
        <p:sp>
          <p:nvSpPr>
            <p:cNvPr id="12" name="Text 10"/>
            <p:cNvSpPr/>
            <p:nvPr/>
          </p:nvSpPr>
          <p:spPr>
            <a:xfrm>
              <a:off x="5943600" y="1783080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 Black" panose="020B0A04020102020204" pitchFamily="34" charset="0"/>
                  <a:ea typeface="Arial" pitchFamily="34" charset="-122"/>
                  <a:cs typeface="Arial" pitchFamily="34" charset="-120"/>
                </a:rPr>
                <a:t>APPLICATION CORE</a:t>
              </a:r>
              <a:endParaRPr lang="en-US" sz="1600" dirty="0">
                <a:latin typeface="Arial Black" panose="020B0A040201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989320" y="2194560"/>
              <a:ext cx="2651760" cy="15910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Payment Service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Student Service</a:t>
              </a:r>
              <a:endParaRPr lang="en-US" sz="2000" dirty="0">
                <a:solidFill>
                  <a:schemeClr val="bg1"/>
                </a:solidFill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Cashbook Service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Reports Service</a:t>
              </a:r>
              <a:endParaRPr lang="en-US" sz="2000" dirty="0">
                <a:solidFill>
                  <a:schemeClr val="bg1"/>
                </a:solidFill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SQLAlchemy ORM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617720"/>
            <a:ext cx="384048" cy="38404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9138C23-2FA9-B8D0-92DD-C4FE2DD43881}"/>
              </a:ext>
            </a:extLst>
          </p:cNvPr>
          <p:cNvSpPr txBox="1"/>
          <p:nvPr/>
        </p:nvSpPr>
        <p:spPr>
          <a:xfrm>
            <a:off x="4245935" y="4707374"/>
            <a:ext cx="65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yne" pitchFamily="2" charset="0"/>
              </a:rPr>
              <a:t>7</a:t>
            </a:r>
            <a:endParaRPr lang="en-UG" b="1" dirty="0">
              <a:latin typeface="Syne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3A6AA87-27BD-DC87-921E-75B63C517007}"/>
              </a:ext>
            </a:extLst>
          </p:cNvPr>
          <p:cNvGrpSpPr/>
          <p:nvPr/>
        </p:nvGrpSpPr>
        <p:grpSpPr>
          <a:xfrm>
            <a:off x="1910315" y="1422770"/>
            <a:ext cx="5323370" cy="2297961"/>
            <a:chOff x="1538175" y="1422769"/>
            <a:chExt cx="5323370" cy="2297961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8175" y="2131207"/>
              <a:ext cx="914401" cy="914401"/>
            </a:xfrm>
            <a:prstGeom prst="rect">
              <a:avLst/>
            </a:prstGeom>
            <a:noFill/>
            <a:ln/>
          </p:spPr>
        </p:pic>
        <p:pic>
          <p:nvPicPr>
            <p:cNvPr id="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4692" y="1422769"/>
              <a:ext cx="4976853" cy="22979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417</Words>
  <Application>Microsoft Office PowerPoint</Application>
  <PresentationFormat>On-screen Show (16:9)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ORGANICAL PERSONAL USE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SmartBursar — Product Vision</dc:title>
  <dc:subject>PptxGenJS Presentation</dc:subject>
  <dc:creator>SmartBursar</dc:creator>
  <cp:lastModifiedBy>SATELITE-256</cp:lastModifiedBy>
  <cp:revision>69</cp:revision>
  <dcterms:created xsi:type="dcterms:W3CDTF">2026-06-27T16:13:45Z</dcterms:created>
  <dcterms:modified xsi:type="dcterms:W3CDTF">2026-06-27T18:30:25Z</dcterms:modified>
</cp:coreProperties>
</file>